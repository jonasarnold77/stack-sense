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Ziel des Gesprächs: zeigen warum StackSense der ideale Kanal ist um evidenzbasierte Supplements an informierte, vorqualifizierte Kunden zu vermitteln.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€2,1 Mrd. konservativ. Wichtig: Markt wächst, aber Kunden werden kritischer. Das ist unsere Chance.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Kunden die über StackSense kommen sind vorqualifiziert und informiert.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Nutzer bekommt evidenzbasierte Antworten die zu seinem persönlichen Profil passen. Der Hersteller bekommt Kunden die bereits überzeugt sind.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StackSense ist kein Produktkatalog und kein Shop. Es ist ein Beratungs-Tool.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StackSense verbindet Nutzer, Hersteller, Apotheken und Wissenschaft in einem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Kaufpfad führt direkt zum Hersteller-Shop. Qualifizierter, informierter Käufer — keine Impulskäufe.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Kein Konkurrent macht das so. bioniq hat ein Scoring-System, aber nur für eigene Produkte.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Onboarding ist stufenweise — Basis zuerst (5 Fragen), optionale Vertiefung später.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Halluzinationsschutz: Claude darf nur aus der DSLD-Datenbasis empfehlen.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Kein Umweg über Amazon. Der Klick führt direkt zum Hersteller-Shop.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StackSense ist DSGVO-konform ab Tag 1. Kein Risiko bei der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Affiliate-Tracking gibt Ihnen Zahlen. Die Qualität des Käufers ist höher als bei Influencer-Traffic.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bioniq verkauft eigene Produkte — parteiisch. Sunday Natural ist ein Shop, keine Beratungs-App. StackSense ist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2% Conversion bei qualifiziertem Traffic ist konservativ. Influencer-Traffic liegt bei 0,1–0,5%. Mit 100.000 Nutzern (2027) sind bis zu 10.000 Käufe / Monat pro aktivem Partner realistisch.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Empfehlung für den Pilot: Basis-Modell. Performance messen, dann gemeinsam skalieren.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Risikoarmes Angebot. 3 Monate, monatliche Kündbarkeit. Wir wollen beweisen dass es funktioniert.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Abschluss. Fragen beantworten. Ziel heute: Letter of Intent oder Folgetermin.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4114800" cy="4114800"/>
          </a:xfrm>
          <a:prstGeom prst="ellipse">
            <a:avLst/>
          </a:prstGeom>
          <a:solidFill>
            <a:srgbClr val="2D60CE">
              <a:alpha val="18000"/>
            </a:srgbClr>
          </a:solidFill>
          <a:ln w="12700">
            <a:solidFill>
              <a:srgbClr val="2D60C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1887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85800" y="19385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8D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29260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evidenzbasierte Supplement-Plattform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den DACH-Markt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40233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D60CE">
              <a:alpha val="35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3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&amp; Unabhängig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40233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D60CE">
              <a:alpha val="35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4023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57800" y="40233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D60CE">
              <a:alpha val="35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4023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DSGVO-konform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0" y="47548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Vertraulich  ·  Juni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1  ·  DER MARKT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€ 2,1 Milliarden — und wachsend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DACH-Supplement-Markt wächst schneller als der Gesamtlebensmittelmarkt — getrieben durch Gesundheitsbewusstsein, Post-COVID-Nachwirkungen und steigende Nachfrage nach personalisierten Lösungen.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385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46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€ 2,1 Mrd.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715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Marktvolumen DACH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Deutschland, Österreich, Schweiz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9385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46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+ 8 %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91840" y="2715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Jährliches Wachstum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 2025–2028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9385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46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26480" y="2715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Deutschen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kaufen regelmäßig Supplements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773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Statista 2025  ·  NutraIngredients DACH Report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1  ·  DER MARKT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Hersteller verlieren Kunden, bevor sie sie kennen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630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746A2"/>
          </a:solidFill>
          <a:ln w="12700">
            <a:solidFill>
              <a:srgbClr val="1746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Influencer-Marketing verpufft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682496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Reichweite ist teuer, Conversion schwer messbar — der Kunde landet nicht bei Ihnen, sondern auf Amazon. Kein direktes Kundenprofil.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41448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2697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746A2"/>
          </a:solidFill>
          <a:ln w="12700">
            <a:solidFill>
              <a:srgbClr val="1746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253288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anonymisiert den Kunden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916936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Kundenprofil, kein Folgekauf-Tracking, kein direktes Vertrauensverhältnis. Der Marktplatz besitzt die Beziehung — nicht Sie.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75888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39319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746A2"/>
          </a:solidFill>
          <a:ln w="12700">
            <a:solidFill>
              <a:srgbClr val="1746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76732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messbarer Wirkungs-Nachweis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151376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 wissen nicht, ob Ihr Produkt bei ihnen wirkt. Ohne Datenbasis kein Wiederkauf — kein Vertrauen — keine Loyalität.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1  ·  DER MARKT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Kunden wirklich wollen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D60CE">
              <a:alpha val="28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3312" y="150876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3312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Vertrauen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2926080"/>
            <a:ext cx="22860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empfiehlt wirklich neutral? Influencer verkaufen. Apotheken haben keine Zeit. Eine App mit Evidenzgrading schon.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D60CE">
              <a:alpha val="28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87952" y="150876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7952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24505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Personalisierung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56432" y="2926080"/>
            <a:ext cx="22860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»Was passt zu MIR?« — nicht zur Durchschnittsperson. Alter, Erkrankungen, Sport, Jahreszeit, Medikamente zählen alle.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D60CE">
              <a:alpha val="28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150876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2592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26480" y="24505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Einfachheit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91072" y="2926080"/>
            <a:ext cx="22860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klarer Stack statt 20 offene Browser-Tabs. Eine App die sagt: nimm das, so, wann, warum.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2  ·  STACKSENSE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StackSense?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841248"/>
          </a:xfrm>
          <a:prstGeom prst="roundRect">
            <a:avLst>
              <a:gd name="adj" fmla="val 10870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0700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StackSense ist die erste neutrale, KI-gestützte Supplement-Beratungs-App für den DACH-Markt — personalisiert auf Basis von Nutzerprofil, Erkrankungen, Medikamenten und wissenschaftlicher Evidenz.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07592" y="2267712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1746A2"/>
          </a:solidFill>
          <a:ln w="12700">
            <a:solidFill>
              <a:srgbClr val="1746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7592" y="226771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Evidenzbasiert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Empfehlung ist nach wissenschaftlicher Studienlage in Grün / Gelb / Rot klassifiziert — mit Begründung.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14884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42232" y="2267712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2D60CE"/>
          </a:solidFill>
          <a:ln w="12700">
            <a:solidFill>
              <a:srgbClr val="2D60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2232" y="226771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944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3832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(Anthropic) + DSLD-Datenbank (175.000+ Produkte) generieren personalisierte Empfehlungen in Echtzeit.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14884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76872" y="2267712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226771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944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&amp; Unabhängig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3832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StackSense verkauft keine eigenen Produkte. Hersteller-Empfehlungen sind nachrangig zur Evidenz.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2  ·  STACKSENSE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StackSense verbindet alle Akteure des Marktes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566160" y="2212848"/>
            <a:ext cx="2011680" cy="2011680"/>
          </a:xfrm>
          <a:prstGeom prst="ellipse">
            <a:avLst/>
          </a:prstGeom>
          <a:solidFill>
            <a:srgbClr val="1746A2"/>
          </a:solidFill>
          <a:ln w="12700">
            <a:solidFill>
              <a:srgbClr val="0A2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66160" y="2212848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6070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0" y="987552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106070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Hersteller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1645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Affiliate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359359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Apotheken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41788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Lizenz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3520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359359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Blutbild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41788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Datenquelle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1097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66160" y="11704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Wissenschaft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Studien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17556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Evidenzbasis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2  ·  STACKSENSE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StackSense funktioniert — die User Journey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78992"/>
            <a:ext cx="594360" cy="594360"/>
          </a:xfrm>
          <a:prstGeom prst="ellipse">
            <a:avLst/>
          </a:prstGeom>
          <a:solidFill>
            <a:srgbClr val="1746A2"/>
          </a:solidFill>
          <a:ln w="12700">
            <a:solidFill>
              <a:srgbClr val="0A2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26464" y="1371600"/>
            <a:ext cx="621792" cy="0"/>
          </a:xfrm>
          <a:prstGeom prst="line">
            <a:avLst/>
          </a:prstGeom>
          <a:noFill/>
          <a:ln w="15240">
            <a:solidFill>
              <a:srgbClr val="99BC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847088"/>
            <a:ext cx="1536192" cy="2743200"/>
          </a:xfrm>
          <a:prstGeom prst="roundRect">
            <a:avLst>
              <a:gd name="adj" fmla="val 595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938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37744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Alter, Geschlecht,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Sport, Erkrankungen,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Medikamente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96312" y="1078992"/>
            <a:ext cx="594360" cy="594360"/>
          </a:xfrm>
          <a:prstGeom prst="ellipse">
            <a:avLst/>
          </a:prstGeom>
          <a:solidFill>
            <a:srgbClr val="1746A2"/>
          </a:solidFill>
          <a:ln w="12700">
            <a:solidFill>
              <a:srgbClr val="0A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45536" y="1371600"/>
            <a:ext cx="621792" cy="0"/>
          </a:xfrm>
          <a:prstGeom prst="line">
            <a:avLst/>
          </a:prstGeom>
          <a:noFill/>
          <a:ln w="15240">
            <a:solidFill>
              <a:srgbClr val="99B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66544" y="1847088"/>
            <a:ext cx="1536192" cy="2743200"/>
          </a:xfrm>
          <a:prstGeom prst="roundRect">
            <a:avLst>
              <a:gd name="adj" fmla="val 595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66544" y="1938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57984" y="237744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+ DSLD: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passt zu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diesem Profil?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15384" y="1078992"/>
            <a:ext cx="594360" cy="594360"/>
          </a:xfrm>
          <a:prstGeom prst="ellipse">
            <a:avLst/>
          </a:prstGeom>
          <a:solidFill>
            <a:srgbClr val="1746A2"/>
          </a:solidFill>
          <a:ln w="12700">
            <a:solidFill>
              <a:srgbClr val="0A2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15384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64608" y="1371600"/>
            <a:ext cx="621792" cy="0"/>
          </a:xfrm>
          <a:prstGeom prst="line">
            <a:avLst/>
          </a:prstGeom>
          <a:noFill/>
          <a:ln w="15240">
            <a:solidFill>
              <a:srgbClr val="99B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85616" y="1847088"/>
            <a:ext cx="1536192" cy="2743200"/>
          </a:xfrm>
          <a:prstGeom prst="roundRect">
            <a:avLst>
              <a:gd name="adj" fmla="val 595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85616" y="1938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77056" y="237744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 / Gelb / Rot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Evidenz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Relevanz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34456" y="1078992"/>
            <a:ext cx="594360" cy="594360"/>
          </a:xfrm>
          <a:prstGeom prst="ellipse">
            <a:avLst/>
          </a:prstGeom>
          <a:solidFill>
            <a:srgbClr val="1746A2"/>
          </a:solidFill>
          <a:ln w="12700">
            <a:solidFill>
              <a:srgbClr val="0A2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34456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0" y="1371600"/>
            <a:ext cx="621792" cy="0"/>
          </a:xfrm>
          <a:prstGeom prst="line">
            <a:avLst/>
          </a:prstGeom>
          <a:noFill/>
          <a:ln w="15240">
            <a:solidFill>
              <a:srgbClr val="99B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04688" y="1847088"/>
            <a:ext cx="1536192" cy="2743200"/>
          </a:xfrm>
          <a:prstGeom prst="roundRect">
            <a:avLst>
              <a:gd name="adj" fmla="val 5952"/>
            </a:avLst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04688" y="1938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96128" y="237744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Affiliate-Link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zum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Hersteller-Shop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53528" y="1078992"/>
            <a:ext cx="594360" cy="594360"/>
          </a:xfrm>
          <a:prstGeom prst="ellipse">
            <a:avLst/>
          </a:prstGeom>
          <a:solidFill>
            <a:srgbClr val="1746A2"/>
          </a:solidFill>
          <a:ln w="12700">
            <a:solidFill>
              <a:srgbClr val="0A2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53528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23760" y="1847088"/>
            <a:ext cx="1536192" cy="2743200"/>
          </a:xfrm>
          <a:prstGeom prst="roundRect">
            <a:avLst>
              <a:gd name="adj" fmla="val 595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23760" y="1938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0" y="237744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Tägliches Feedback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Wirksamkeits-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Verlauf + XP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2  ·  STACKSENSE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Evidenz-Grading — unser schärfster USP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633472" cy="3337560"/>
          </a:xfrm>
          <a:prstGeom prst="roundRect">
            <a:avLst>
              <a:gd name="adj" fmla="val 4167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261872"/>
            <a:ext cx="1645920" cy="329184"/>
          </a:xfrm>
          <a:prstGeom prst="roundRect">
            <a:avLst>
              <a:gd name="adj" fmla="val 1944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Evidenzbasiert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2157984"/>
            <a:ext cx="23042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RCTs, EFSA- oder DACH-Empfehlung vorhanden. Wirkung klinisch belegt und reproduzierbar.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Beispiele: Vitamin D  ·  Magnesium  ·  Omega-3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2633472" cy="3337560"/>
          </a:xfrm>
          <a:prstGeom prst="roundRect">
            <a:avLst>
              <a:gd name="adj" fmla="val 4167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1261872"/>
            <a:ext cx="1645920" cy="329184"/>
          </a:xfrm>
          <a:prstGeom prst="roundRect">
            <a:avLst>
              <a:gd name="adj" fmla="val 1944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2618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69164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Erste Studien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2157984"/>
            <a:ext cx="23042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RCTs oder starke Beobachtungsstudien, aber noch kein wissenschaftlicher Konsens.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38328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Beispiele: Ashwagandha  ·  L-Theanin  ·  Berberin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115568"/>
            <a:ext cx="2633472" cy="3337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261872"/>
            <a:ext cx="1645920" cy="329184"/>
          </a:xfrm>
          <a:prstGeom prst="roundRect">
            <a:avLst>
              <a:gd name="adj" fmla="val 1944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2618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169164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Kaum Evidenz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99632" y="2157984"/>
            <a:ext cx="23042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Hauptsächlich Tierstudien oder Einzelberichte, keine robusten Humandaten vorhanden.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338328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Beispiele: NMN Hochdosis  ·  HGH-Booster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➡  Ihr Produkt erscheint genau dort, wo es evidenzbasiert passt — mit wissenschaftlicher Begründung.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3  ·  DIE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Personalisierung — alle Parameter fließen ein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mehr der Nutzer über sich angibt, desto präziser die Empfehlung. Kein anderer Player im DACH-Markt kombiniert alle dieser Faktoren.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664208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1746A2"/>
          </a:solidFill>
          <a:ln w="12700">
            <a:solidFill>
              <a:srgbClr val="1746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6420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&amp; Geschlecht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572768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664208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2D60CE"/>
          </a:solidFill>
          <a:ln w="12700">
            <a:solidFill>
              <a:srgbClr val="2D60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66420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2677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Sport-Level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572768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57800" y="1664208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66420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22677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Erkrankungen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572768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1664208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66420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22677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Medikamente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90088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51560" y="3081528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08152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6850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Jahreszeit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0" y="2990088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3081528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308152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60320" y="36850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Blutbild (opt.)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990088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57800" y="3081528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1746A2"/>
          </a:solidFill>
          <a:ln w="12700">
            <a:solidFill>
              <a:srgbClr val="1746A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08152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63440" y="36850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2990088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60920" y="3081528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2D60CE"/>
          </a:solidFill>
          <a:ln w="12700">
            <a:solidFill>
              <a:srgbClr val="2D60C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308152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66560" y="36850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Zyklus / Schw.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3  ·  DIE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KI-Empfehlung in Echtzeit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137160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2D60CE">
              <a:alpha val="32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5087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Nutzerprofil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2084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Parameter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67712" y="2029968"/>
            <a:ext cx="292608" cy="0"/>
          </a:xfrm>
          <a:prstGeom prst="line">
            <a:avLst/>
          </a:prstGeom>
          <a:noFill/>
          <a:ln w="19050">
            <a:solidFill>
              <a:srgbClr val="B8D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37160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2D60CE">
              <a:alpha val="32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5087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DSLD Datenbank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2084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175.000+ Produkte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2029968"/>
            <a:ext cx="292608" cy="0"/>
          </a:xfrm>
          <a:prstGeom prst="line">
            <a:avLst/>
          </a:prstGeom>
          <a:noFill/>
          <a:ln w="19050">
            <a:solidFill>
              <a:srgbClr val="B8D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3168" y="137160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2D60CE">
              <a:alpha val="32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5087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73168" y="2084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Sonnet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93408" y="2029968"/>
            <a:ext cx="292608" cy="0"/>
          </a:xfrm>
          <a:prstGeom prst="line">
            <a:avLst/>
          </a:prstGeom>
          <a:noFill/>
          <a:ln w="19050">
            <a:solidFill>
              <a:srgbClr val="B8D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86016" y="137160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2D60CE">
              <a:alpha val="32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6016" y="15087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86016" y="2084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 / Gelb / Rot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die KI in Sekunden liefert: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273552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Evidenz-Einstufung (Grün/Gelb/Rot) mit wissenschaftlicher Begründung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Optimale Dosierung individuell für das Nutzerprofil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Beste Einnahmezeit + Hinweise (z.B. »mit fetthaltiger Mahlzeit«)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Wechselwirkungen mit Medikamenten (z.B. Levothyroxin, Metoprolol)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Direkter Affiliate-Link zum passenden Hersteller-Produkt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3  ·  DIE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Problem zum Kauf — in drei Schritten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377440" cy="3657600"/>
          </a:xfrm>
          <a:prstGeom prst="roundRect">
            <a:avLst>
              <a:gd name="adj" fmla="val 3846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Problemfeld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691640"/>
            <a:ext cx="2029968" cy="347472"/>
          </a:xfrm>
          <a:prstGeom prst="roundRect">
            <a:avLst>
              <a:gd name="adj" fmla="val 15789"/>
            </a:avLst>
          </a:prstGeom>
          <a:solidFill>
            <a:srgbClr val="2D60CE">
              <a:alpha val="18000"/>
            </a:srgbClr>
          </a:solidFill>
          <a:ln w="6350">
            <a:solidFill>
              <a:srgbClr val="99B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916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Schlaf verbessern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2167128"/>
            <a:ext cx="2029968" cy="347472"/>
          </a:xfrm>
          <a:prstGeom prst="roundRect">
            <a:avLst>
              <a:gd name="adj" fmla="val 15789"/>
            </a:avLst>
          </a:prstGeom>
          <a:solidFill>
            <a:srgbClr val="2D60CE">
              <a:alpha val="18000"/>
            </a:srgbClr>
          </a:solidFill>
          <a:ln w="6350">
            <a:solidFill>
              <a:srgbClr val="99B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16712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Energie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2642616"/>
            <a:ext cx="2029968" cy="347472"/>
          </a:xfrm>
          <a:prstGeom prst="roundRect">
            <a:avLst>
              <a:gd name="adj" fmla="val 15789"/>
            </a:avLst>
          </a:prstGeom>
          <a:solidFill>
            <a:srgbClr val="2D60CE">
              <a:alpha val="18000"/>
            </a:srgbClr>
          </a:solidFill>
          <a:ln w="6350">
            <a:solidFill>
              <a:srgbClr val="99B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64261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Immunsystem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" y="3118104"/>
            <a:ext cx="2029968" cy="347472"/>
          </a:xfrm>
          <a:prstGeom prst="roundRect">
            <a:avLst>
              <a:gd name="adj" fmla="val 15789"/>
            </a:avLst>
          </a:prstGeom>
          <a:solidFill>
            <a:srgbClr val="2D60CE">
              <a:alpha val="18000"/>
            </a:srgbClr>
          </a:solidFill>
          <a:ln w="6350">
            <a:solidFill>
              <a:srgbClr val="99B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11810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&amp; Konz.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3593592"/>
            <a:ext cx="2029968" cy="347472"/>
          </a:xfrm>
          <a:prstGeom prst="roundRect">
            <a:avLst>
              <a:gd name="adj" fmla="val 15789"/>
            </a:avLst>
          </a:prstGeom>
          <a:solidFill>
            <a:srgbClr val="2D60CE">
              <a:alpha val="18000"/>
            </a:srgbClr>
          </a:solidFill>
          <a:ln w="6350">
            <a:solidFill>
              <a:srgbClr val="99B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59359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Stressabbau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" y="4069080"/>
            <a:ext cx="2029968" cy="347472"/>
          </a:xfrm>
          <a:prstGeom prst="roundRect">
            <a:avLst>
              <a:gd name="adj" fmla="val 15789"/>
            </a:avLst>
          </a:prstGeom>
          <a:solidFill>
            <a:srgbClr val="2D60CE">
              <a:alpha val="18000"/>
            </a:srgbClr>
          </a:solidFill>
          <a:ln w="6350">
            <a:solidFill>
              <a:srgbClr val="99B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06908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Muskelaufbau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71800" y="109728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718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Evidenz-Karten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27248" y="1828800"/>
            <a:ext cx="288036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73552" y="193852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1938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169664" y="190195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 Bisglycinat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27248" y="2834640"/>
            <a:ext cx="288036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73552" y="294436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3552" y="2944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GELB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169664" y="290779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L-Theanin 200mg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27248" y="3840480"/>
            <a:ext cx="288036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73552" y="395020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39502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169664" y="391363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Melatonin 0,5mg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1097280"/>
            <a:ext cx="2423160" cy="3657600"/>
          </a:xfrm>
          <a:prstGeom prst="roundRect">
            <a:avLst>
              <a:gd name="adj" fmla="val 3774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1188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Direktkauf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03720" y="18288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182880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KAUF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9224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Affiliate-Link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zum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Hersteller-Shop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65392" y="3520440"/>
            <a:ext cx="2084832" cy="438912"/>
          </a:xfrm>
          <a:prstGeom prst="roundRect">
            <a:avLst>
              <a:gd name="adj" fmla="val 16667"/>
            </a:avLst>
          </a:prstGeom>
          <a:solidFill>
            <a:srgbClr val="1746A2"/>
          </a:solidFill>
          <a:ln w="12700">
            <a:solidFill>
              <a:srgbClr val="1746A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352044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kaufen →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92240" y="40782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3–7 % Affiliate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Transaktion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3  ·  DIE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 &amp; Datenschutz — enterprise-ready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3886200" cy="1691640"/>
          </a:xfrm>
          <a:prstGeom prst="roundRect">
            <a:avLst>
              <a:gd name="adj" fmla="val 5405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37160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746A2"/>
          </a:solidFill>
          <a:ln w="12700">
            <a:solidFill>
              <a:srgbClr val="1746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71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(iOS &amp; Android)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168249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 aus einer Codebasis. Läuft auf iPhone und Android — kein Quality-Verlust, keine Web-App.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15568"/>
            <a:ext cx="3886200" cy="1691640"/>
          </a:xfrm>
          <a:prstGeom prst="roundRect">
            <a:avLst>
              <a:gd name="adj" fmla="val 5405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37160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D60CE"/>
          </a:solidFill>
          <a:ln w="12700">
            <a:solidFill>
              <a:srgbClr val="2D60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371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50992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50992" y="168249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Backend-Server: RAG-Pipeline, Claude-Integration, DSLD-Abfragen. Skalierbar auf Millionen Nutzer.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35808"/>
            <a:ext cx="3886200" cy="1691640"/>
          </a:xfrm>
          <a:prstGeom prst="roundRect">
            <a:avLst>
              <a:gd name="adj" fmla="val 5405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329184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291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(Anthropic)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61872" y="360273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Modernste KI für Supplement-Beratung. Halluzinationsschutz via kurierter DSLD-Wissensbasis.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035808"/>
            <a:ext cx="3886200" cy="1691640"/>
          </a:xfrm>
          <a:prstGeom prst="roundRect">
            <a:avLst>
              <a:gd name="adj" fmla="val 5405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329184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3291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50992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DSGVO Art. 9 konform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50992" y="360273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Gesundheitsdaten verschlüsselt, Server in der EU, explizite Einwilligung, keine Weitergabe an Dritte.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4  ·  FÜR SIE ALS HERSTELLER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StackSense konkret für Sie bedeutet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77640" cy="1627632"/>
          </a:xfrm>
          <a:prstGeom prst="roundRect">
            <a:avLst>
              <a:gd name="adj" fmla="val 5618"/>
            </a:avLst>
          </a:prstGeom>
          <a:solidFill>
            <a:srgbClr val="2D60CE">
              <a:alpha val="28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49047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490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3807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Qualifizierte Kundschaft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8013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 die über StackSense kommen haben bereits Evidenz-Infos gesehen. Kein Kaltkontakt — ein informierter Kauf.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977640" cy="1627632"/>
          </a:xfrm>
          <a:prstGeom prst="roundRect">
            <a:avLst>
              <a:gd name="adj" fmla="val 5618"/>
            </a:avLst>
          </a:prstGeom>
          <a:solidFill>
            <a:srgbClr val="2D60CE">
              <a:alpha val="28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149047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90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23560" y="13807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Messbare Performance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23560" y="18013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Affiliate-Tracking auf Klick und Kauf. Sie sehen genau was funktioniert — keine Black Box wie bei Influencern.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81528"/>
            <a:ext cx="3977640" cy="1627632"/>
          </a:xfrm>
          <a:prstGeom prst="roundRect">
            <a:avLst>
              <a:gd name="adj" fmla="val 5618"/>
            </a:avLst>
          </a:prstGeom>
          <a:solidFill>
            <a:srgbClr val="2D60CE">
              <a:alpha val="28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33375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D60CE"/>
          </a:solidFill>
          <a:ln w="12700">
            <a:solidFill>
              <a:srgbClr val="2D60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2278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durch Evidenz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64845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Grüne Produkte in StackSense werden als wissenschaftlich belegt wahrgenommen — ein Trust-Signal das Influencer nicht bieten.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81528"/>
            <a:ext cx="3977640" cy="1627632"/>
          </a:xfrm>
          <a:prstGeom prst="roundRect">
            <a:avLst>
              <a:gd name="adj" fmla="val 5618"/>
            </a:avLst>
          </a:prstGeom>
          <a:solidFill>
            <a:srgbClr val="2D60CE">
              <a:alpha val="28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4608" y="33375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23560" y="32278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Direkter Kanal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364845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Amazon-Zwischenhändler. Kein Datenverlust. Der Klick führt direkt zu Ihrem Shop — die Beziehung gehört Ihnen.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4  ·  FÜR DEN HERSTELLER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StackSense — der Marktvergleich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737360"/>
                <a:gridCol w="1737360"/>
                <a:gridCol w="173736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3E"/>
                          </a:solidFill>
                        </a:rPr>
                        <a:t>Kriterium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3E"/>
                          </a:solidFill>
                        </a:rPr>
                        <a:t>bioniq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3E"/>
                          </a:solidFill>
                        </a:rPr>
                        <a:t>Sunday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3E"/>
                          </a:solidFill>
                        </a:rPr>
                        <a:t>Natural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StackSense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6A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F4F79"/>
                          </a:solidFill>
                        </a:rPr>
                        <a:t>Neutral (kein Eigenprodukt)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F4F79"/>
                          </a:solidFill>
                        </a:rPr>
                        <a:t>KI-Empfehlung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A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F4F79"/>
                          </a:solidFill>
                        </a:rPr>
                        <a:t>Evidenz-Grading (Grün/Gelb/Rot)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F4F79"/>
                          </a:solidFill>
                        </a:rPr>
                        <a:t>DACH-Markt-Fokus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A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F4F79"/>
                          </a:solidFill>
                        </a:rPr>
                        <a:t>Gamification &amp; Nutzerbindung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F4F79"/>
                          </a:solidFill>
                        </a:rPr>
                        <a:t>B2B Affiliate für Hersteller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A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F4F79"/>
                          </a:solidFill>
                        </a:rPr>
                        <a:t>DSGVO Art. 9 konform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4F79"/>
                          </a:solidFill>
                        </a:rPr>
                        <a:t>teilw.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StackSense ist die einzige Plattform im DACH-Markt die Neutralität, Evidenz-Grading, KI und einen echten B2B-Kanal für Hersteller kombiniert.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4  ·  FÜR DEN HERSTELLER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Potenzial — konkrete Zahlen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Erlösmodell als Partner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566160" cy="0"/>
          </a:xfrm>
          <a:prstGeom prst="line">
            <a:avLst/>
          </a:prstGeom>
          <a:noFill/>
          <a:ln w="6350">
            <a:solidFill>
              <a:srgbClr val="99BCE0"/>
            </a:solidFill>
            <a:prstDash val="sysDot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Setup-Fee (einmalig)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1737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€ 5.000–15.000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566160" cy="0"/>
          </a:xfrm>
          <a:prstGeom prst="line">
            <a:avLst/>
          </a:prstGeom>
          <a:noFill/>
          <a:ln w="6350">
            <a:solidFill>
              <a:srgbClr val="99BCE0"/>
            </a:solidFill>
            <a:prstDash val="sysDot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pro Kauf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3317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3–7 %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3566160" cy="0"/>
          </a:xfrm>
          <a:prstGeom prst="line">
            <a:avLst/>
          </a:prstGeom>
          <a:noFill/>
          <a:ln w="6350">
            <a:solidFill>
              <a:srgbClr val="99BCE0"/>
            </a:solidFill>
            <a:prstDash val="sysDot"/>
          </a:ln>
        </p:spPr>
      </p:sp>
      <p:sp>
        <p:nvSpPr>
          <p:cNvPr id="13" name="Text 11"/>
          <p:cNvSpPr/>
          <p:nvPr/>
        </p:nvSpPr>
        <p:spPr>
          <a:xfrm>
            <a:off x="54864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Pilot-Laufzeit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3566160" cy="0"/>
          </a:xfrm>
          <a:prstGeom prst="line">
            <a:avLst/>
          </a:prstGeom>
          <a:noFill/>
          <a:ln w="6350">
            <a:solidFill>
              <a:srgbClr val="99BCE0"/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54864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Kündbarkeit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3520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 Pilot kein Risiko: Sie zahlen Setup, wir liefern Traffic und Reporting.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097280"/>
            <a:ext cx="4206240" cy="3657600"/>
          </a:xfrm>
          <a:prstGeom prst="roundRect">
            <a:avLst>
              <a:gd name="adj" fmla="val 2500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1207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Skalierungspotenzial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17556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46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2940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Ziel-Nutzer / Phase 1 (6 Mo.)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468880"/>
            <a:ext cx="3840480" cy="0"/>
          </a:xfrm>
          <a:prstGeom prst="line">
            <a:avLst/>
          </a:prstGeom>
          <a:noFill/>
          <a:ln w="6350">
            <a:solidFill>
              <a:srgbClr val="99BCE0"/>
            </a:solidFill>
            <a:prstDash val="sysDot"/>
          </a:ln>
        </p:spPr>
      </p:sp>
      <p:sp>
        <p:nvSpPr>
          <p:cNvPr id="24" name="Text 22"/>
          <p:cNvSpPr/>
          <p:nvPr/>
        </p:nvSpPr>
        <p:spPr>
          <a:xfrm>
            <a:off x="4709160" y="268833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46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629400" y="27614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Conversion (konservativ)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401568"/>
            <a:ext cx="3840480" cy="0"/>
          </a:xfrm>
          <a:prstGeom prst="line">
            <a:avLst/>
          </a:prstGeom>
          <a:noFill/>
          <a:ln w="6350">
            <a:solidFill>
              <a:srgbClr val="99BCE0"/>
            </a:solidFill>
            <a:prstDash val="sysDot"/>
          </a:ln>
        </p:spPr>
      </p:sp>
      <p:sp>
        <p:nvSpPr>
          <p:cNvPr id="27" name="Text 25"/>
          <p:cNvSpPr/>
          <p:nvPr/>
        </p:nvSpPr>
        <p:spPr>
          <a:xfrm>
            <a:off x="4709160" y="362102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46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+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629400" y="36941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Käufe / Monat in Phase 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4590288"/>
            <a:ext cx="39319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Mit 100.000 Nutzern (2027):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bis zu 10.000 Käufe / Monat für aktive Partner.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5  ·  ZUSAMMENARBEIT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Wege der Partnerschaft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31673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3167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Affiliate Integration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231136"/>
            <a:ext cx="2331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Produkte erscheinen bei passenden Empfehlungen mit Affiliate-Link. Tracking auf Klick und Kauf.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13632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136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Setup-Fee + 3–5 % Affiliate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170432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EAF2FF"/>
          </a:solidFill>
          <a:ln w="19050">
            <a:solidFill>
              <a:srgbClr val="1746A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22192" y="131673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1746A2"/>
          </a:solidFill>
          <a:ln w="12700">
            <a:solidFill>
              <a:srgbClr val="1746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13167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EMPFOHLEN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Evidenz-Partner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231136"/>
            <a:ext cx="2331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Produkte priorisiert für Wirkstoffe in denen Sie stark sind. Eigene Produkt-Page mit Studien.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3913632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746A2"/>
          </a:solidFill>
          <a:ln w="12700">
            <a:solidFill>
              <a:srgbClr val="1746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9136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Setup-Fee + 5–7 % Affiliate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170432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FFBEB"/>
          </a:solidFill>
          <a:ln w="19050">
            <a:solidFill>
              <a:srgbClr val="8B5E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48272" y="131673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8B5E00"/>
          </a:solidFill>
          <a:ln w="12700">
            <a:solidFill>
              <a:srgbClr val="8B5E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13167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55080" y="173736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Branded Integration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2231136"/>
            <a:ext cx="2331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für Ihr App-Segment. Eigene Hersteller-Seite, Push-Kampagnen, Reporting-Dashboard.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3913632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8B5E00"/>
          </a:solidFill>
          <a:ln w="12700">
            <a:solidFill>
              <a:srgbClr val="8B5E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9136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Individuelles Angebot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5  ·  ZUSAMMENARBEIT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Unser Pilot-Angebot an Sie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0700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der Pilot beinhaltet: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8249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Ihrer Produkte in die StackSense-Datenbank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5798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3969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gegen alle relevanten Nutzerprofile &amp; Wirkstoffe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9689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Affiliate-Tracking &amp; monatliches Performance-Reporting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05409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Einnahmehinweise &amp; Wechselwirkungs-Check für Ihre Produkte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51129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Evidenz-Badge für nachweislich wirksame Produkte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96849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Direkter Kanal ohne Marktplatz-Margin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15000" y="1097280"/>
            <a:ext cx="3063240" cy="3657600"/>
          </a:xfrm>
          <a:prstGeom prst="roundRect">
            <a:avLst>
              <a:gd name="adj" fmla="val 2985"/>
            </a:avLst>
          </a:prstGeom>
          <a:solidFill>
            <a:srgbClr val="EAF2FF"/>
          </a:solidFill>
          <a:ln w="6350">
            <a:solidFill>
              <a:srgbClr val="99BC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52160" y="12070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Zeitplan: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52160" y="1783080"/>
            <a:ext cx="256032" cy="256032"/>
          </a:xfrm>
          <a:prstGeom prst="ellipse">
            <a:avLst/>
          </a:prstGeom>
          <a:solidFill>
            <a:srgbClr val="1746A2"/>
          </a:solidFill>
          <a:ln w="12700">
            <a:solidFill>
              <a:srgbClr val="1746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0176" y="2039112"/>
            <a:ext cx="0" cy="475488"/>
          </a:xfrm>
          <a:prstGeom prst="line">
            <a:avLst/>
          </a:prstGeom>
          <a:noFill/>
          <a:ln w="12700">
            <a:solidFill>
              <a:srgbClr val="99B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737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1–2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9632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Setup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2532888"/>
            <a:ext cx="256032" cy="256032"/>
          </a:xfrm>
          <a:prstGeom prst="ellipse">
            <a:avLst/>
          </a:prstGeom>
          <a:solidFill>
            <a:srgbClr val="1746A2"/>
          </a:solidFill>
          <a:ln w="12700">
            <a:solidFill>
              <a:srgbClr val="1746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0176" y="2788920"/>
            <a:ext cx="0" cy="475488"/>
          </a:xfrm>
          <a:prstGeom prst="line">
            <a:avLst/>
          </a:prstGeom>
          <a:noFill/>
          <a:ln w="12700">
            <a:solidFill>
              <a:srgbClr val="99BC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2487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3–4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27614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Beta-Test (50 Nutzer)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52160" y="3282696"/>
            <a:ext cx="256032" cy="256032"/>
          </a:xfrm>
          <a:prstGeom prst="ellipse">
            <a:avLst/>
          </a:prstGeom>
          <a:solidFill>
            <a:srgbClr val="1746A2"/>
          </a:solidFill>
          <a:ln w="12700">
            <a:solidFill>
              <a:srgbClr val="1746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0176" y="3538728"/>
            <a:ext cx="0" cy="475488"/>
          </a:xfrm>
          <a:prstGeom prst="line">
            <a:avLst/>
          </a:prstGeom>
          <a:noFill/>
          <a:ln w="12700">
            <a:solidFill>
              <a:srgbClr val="99BC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32369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 2–3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99632" y="35112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Live-Betrieb &amp; Tracking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4032504"/>
            <a:ext cx="256032" cy="256032"/>
          </a:xfrm>
          <a:prstGeom prst="ellipse">
            <a:avLst/>
          </a:prstGeom>
          <a:solidFill>
            <a:srgbClr val="1746A2"/>
          </a:solidFill>
          <a:ln w="12700">
            <a:solidFill>
              <a:srgbClr val="1746A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39867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99632" y="42611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Auswertung &amp; Entscheidung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52160" y="46817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Laufzeit 3 Monate  ·  monatlich kündbar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731520"/>
            <a:ext cx="4754880" cy="4754880"/>
          </a:xfrm>
          <a:prstGeom prst="ellipse">
            <a:avLst/>
          </a:prstGeom>
          <a:solidFill>
            <a:srgbClr val="2D60CE">
              <a:alpha val="12000"/>
            </a:srgbClr>
          </a:solidFill>
          <a:ln w="12700">
            <a:solidFill>
              <a:srgbClr val="2D60C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Lassen Sie uns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gemeinsam starten.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StackSense bringt evidenzbasierte Supplement-Beratung in den DACH-Markt.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bekommen qualifizierte Kunden. Wir bauen gemeinsam Vertrauen auf.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310128"/>
            <a:ext cx="402336" cy="402336"/>
          </a:xfrm>
          <a:prstGeom prst="ellipse">
            <a:avLst/>
          </a:prstGeom>
          <a:solidFill>
            <a:srgbClr val="2D60CE">
              <a:alpha val="55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33856" y="33284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Intent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unterzeichnen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3310128"/>
            <a:ext cx="402336" cy="402336"/>
          </a:xfrm>
          <a:prstGeom prst="ellipse">
            <a:avLst/>
          </a:prstGeom>
          <a:solidFill>
            <a:srgbClr val="2D60CE">
              <a:alpha val="55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77056" y="33284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Produktdaten 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Studien bereitstellen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310128"/>
            <a:ext cx="402336" cy="402336"/>
          </a:xfrm>
          <a:prstGeom prst="ellipse">
            <a:avLst/>
          </a:prstGeom>
          <a:solidFill>
            <a:srgbClr val="2D60CE">
              <a:alpha val="55000"/>
            </a:srgbClr>
          </a:solidFill>
          <a:ln w="6350">
            <a:solidFill>
              <a:srgbClr val="B8D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0256" y="33284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Pilot-Start innerhalb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D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2 Wochen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7863840" cy="0"/>
          </a:xfrm>
          <a:prstGeom prst="line">
            <a:avLst/>
          </a:prstGeom>
          <a:noFill/>
          <a:ln w="9525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StackSense  ·  jonas.ingo.arnold@gmail.com  ·  Juni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»Supplements, die wirklich zu Ihnen passen.«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StackSense — Pitch für Supplement-Hersteller</dc:title>
  <dc:subject>PptxGenJS Presentation</dc:subject>
  <dc:creator>PptxGenJS</dc:creator>
  <cp:lastModifiedBy>PptxGenJS</cp:lastModifiedBy>
  <cp:revision>1</cp:revision>
  <dcterms:created xsi:type="dcterms:W3CDTF">2026-06-28T11:37:00Z</dcterms:created>
  <dcterms:modified xsi:type="dcterms:W3CDTF">2026-06-28T11:37:00Z</dcterms:modified>
</cp:coreProperties>
</file>